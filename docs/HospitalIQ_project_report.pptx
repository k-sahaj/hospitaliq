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Geist" panose="020B0604020202020204" charset="0"/>
      <p:regular r:id="rId13"/>
    </p:embeddedFont>
    <p:embeddedFont>
      <p:font typeface="Geist Bold" panose="020B0604020202020204" charset="0"/>
      <p:regular r:id="rId14"/>
    </p:embeddedFont>
    <p:embeddedFont>
      <p:font typeface="Noto Serif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F7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8572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231106"/>
            <a:ext cx="6296860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HospitalIQ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5233360" y="232975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End-to-End Healthcare Analytics &amp; ML Platform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794522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SQL Server · Power BI · Python/XGBoost · SHAP </a:t>
            </a:r>
            <a:endParaRPr lang="en-US" sz="14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27,891 encounters, 974 patients, $101.5M in claims, AUC 0.907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963097" y="4824611"/>
            <a:ext cx="2837288" cy="287139"/>
          </a:xfrm>
          <a:prstGeom prst="roundRect">
            <a:avLst>
              <a:gd name="adj" fmla="val 47396"/>
            </a:avLst>
          </a:prstGeom>
          <a:solidFill>
            <a:srgbClr val="335E23"/>
          </a:solidFill>
          <a:ln/>
        </p:spPr>
      </p:sp>
      <p:sp>
        <p:nvSpPr>
          <p:cNvPr id="7" name="Text 4"/>
          <p:cNvSpPr/>
          <p:nvPr/>
        </p:nvSpPr>
        <p:spPr>
          <a:xfrm>
            <a:off x="7076501" y="4881265"/>
            <a:ext cx="322006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SAHAJ K · DATA ANALYST · JULY 2026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233360" y="5324376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77673E-B923-0732-E52A-CD7454A55D66}"/>
              </a:ext>
            </a:extLst>
          </p:cNvPr>
          <p:cNvSpPr/>
          <p:nvPr/>
        </p:nvSpPr>
        <p:spPr>
          <a:xfrm>
            <a:off x="10874188" y="6311153"/>
            <a:ext cx="1317812" cy="546847"/>
          </a:xfrm>
          <a:prstGeom prst="rect">
            <a:avLst/>
          </a:prstGeom>
          <a:solidFill>
            <a:srgbClr val="E2F7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111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Executive Summary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446" y="1632248"/>
            <a:ext cx="5581907" cy="3163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27489" y="2327970"/>
            <a:ext cx="3509081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end-to-end hospital analytics project on synthetic EHR data (Synthea) — mirroring real production methodology: schema design, BULK INSERT loading, rigorous data quality auditing, multi-layered analysis, and explainable ML.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5207298"/>
            <a:ext cx="2579821" cy="1080591"/>
          </a:xfrm>
          <a:prstGeom prst="roundRect">
            <a:avLst>
              <a:gd name="adj" fmla="val 15497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3855" y="5399683"/>
            <a:ext cx="219506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27,891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53855" y="5800229"/>
            <a:ext cx="219506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Encounters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424449" y="5207298"/>
            <a:ext cx="2579821" cy="1080591"/>
          </a:xfrm>
          <a:prstGeom prst="roundRect">
            <a:avLst>
              <a:gd name="adj" fmla="val 15497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16830" y="5399683"/>
            <a:ext cx="219506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974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616830" y="5800229"/>
            <a:ext cx="219506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Patients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187424" y="5207298"/>
            <a:ext cx="2579821" cy="1080591"/>
          </a:xfrm>
          <a:prstGeom prst="roundRect">
            <a:avLst>
              <a:gd name="adj" fmla="val 15497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79804" y="5399683"/>
            <a:ext cx="219506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$101.5M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79804" y="5800229"/>
            <a:ext cx="219506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Total Claims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950399" y="5207298"/>
            <a:ext cx="2579821" cy="1080591"/>
          </a:xfrm>
          <a:prstGeom prst="roundRect">
            <a:avLst>
              <a:gd name="adj" fmla="val 15497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2779" y="5399683"/>
            <a:ext cx="219506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0.907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142779" y="5800229"/>
            <a:ext cx="219506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Model AUC</a:t>
            </a:r>
            <a:endParaRPr lang="en-US" sz="14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F9E4CE-95DE-7ED5-205A-B8CF3CCC2C9B}"/>
              </a:ext>
            </a:extLst>
          </p:cNvPr>
          <p:cNvSpPr/>
          <p:nvPr/>
        </p:nvSpPr>
        <p:spPr>
          <a:xfrm>
            <a:off x="10874188" y="6311153"/>
            <a:ext cx="1317812" cy="546847"/>
          </a:xfrm>
          <a:prstGeom prst="rect">
            <a:avLst/>
          </a:prstGeom>
          <a:solidFill>
            <a:srgbClr val="E2F7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761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Headline Findings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11498"/>
            <a:ext cx="3500747" cy="22997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4502" y="1722934"/>
            <a:ext cx="297629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Encounter Volume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74502" y="2123480"/>
            <a:ext cx="297629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Peaked in 2014 (3,885) and 2021 (3,530). Outpatient surged to 40.2% in 2021 — likely a COVID-era coding shift.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5375" y="1511498"/>
            <a:ext cx="3500846" cy="22997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58402" y="1722934"/>
            <a:ext cx="297638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Payer Coverage Gap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658402" y="2123480"/>
            <a:ext cx="2976389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48.7% of encounters had zero payer coverage. 4,779 were insured patients (deductibles or denied claims) — a nuance most reporting misses.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9374" y="1511498"/>
            <a:ext cx="3500747" cy="22997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2401" y="1722934"/>
            <a:ext cx="297629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Cost Concentration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342401" y="2123480"/>
            <a:ext cx="297629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Electrical cardioversion drives ~$35.8M (1,383 procedures × ~$25,903). ICU admissions rare (n=5) but cost $206K each on average.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3425" y="3994448"/>
            <a:ext cx="3500747" cy="229979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816452" y="4205883"/>
            <a:ext cx="297629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Payer Disparities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2816452" y="4606429"/>
            <a:ext cx="2976290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Average claim cost varies 3.7× across payers. Medicaid ($6,205) and uninsured ($5,593) carry the highest costs — consistent with delayed-care patterns.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7325" y="3994448"/>
            <a:ext cx="3500846" cy="229979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500352" y="4205883"/>
            <a:ext cx="297638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Readmission Model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6500352" y="4606429"/>
            <a:ext cx="2976389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XGBoost achieves AUC 0.907 predicting 30-day readmission, driven by clinical features (prior encounter count, recency, claim cost, age) — not demographics.</a:t>
            </a:r>
            <a:endParaRPr lang="en-US" sz="14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47AE98-BF34-5875-8C4E-B32B19D2EDC4}"/>
              </a:ext>
            </a:extLst>
          </p:cNvPr>
          <p:cNvSpPr/>
          <p:nvPr/>
        </p:nvSpPr>
        <p:spPr>
          <a:xfrm>
            <a:off x="10874188" y="6311153"/>
            <a:ext cx="1317812" cy="546847"/>
          </a:xfrm>
          <a:prstGeom prst="rect">
            <a:avLst/>
          </a:prstGeom>
          <a:solidFill>
            <a:srgbClr val="E2F7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076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Project Phases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59434"/>
            <a:ext cx="5434373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2604492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Data Engineering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50482" y="3013174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Schema, BULK INSERT, data quality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1659434"/>
            <a:ext cx="5434373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84854" y="2604492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SQL Analytics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84854" y="3013174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10 business-question queries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504605"/>
            <a:ext cx="5434373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0482" y="4449663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Power BI Dashboard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50482" y="4858345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 pages: Operations, Financial, Patient Risk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3504605"/>
            <a:ext cx="5434373" cy="7560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84854" y="4449663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Python ML Model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84854" y="4858345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30-day readmission, XGBoost + SHAP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61475" y="556240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All four phases completed on a Synthea synthetic EHR dataset (974 patients, 27,891 encounters, 47,701 procedures, spanning 2011–2022).</a:t>
            </a:r>
            <a:endParaRPr lang="en-US" sz="14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F34B59-BD90-4059-A8E3-4EE22F7F2F56}"/>
              </a:ext>
            </a:extLst>
          </p:cNvPr>
          <p:cNvSpPr/>
          <p:nvPr/>
        </p:nvSpPr>
        <p:spPr>
          <a:xfrm>
            <a:off x="10874188" y="6311153"/>
            <a:ext cx="1317812" cy="546847"/>
          </a:xfrm>
          <a:prstGeom prst="rect">
            <a:avLst/>
          </a:prstGeom>
          <a:solidFill>
            <a:srgbClr val="E2F7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7005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Data Engineering &amp; Quality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593056"/>
            <a:ext cx="397946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Loading Issues Resolved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61475" y="2045891"/>
            <a:ext cx="392003" cy="392013"/>
          </a:xfrm>
          <a:prstGeom prst="roundRect">
            <a:avLst>
              <a:gd name="adj" fmla="val 40006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6759" y="2078484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214109" y="2105720"/>
            <a:ext cx="342683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Missing Patient Row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14109" y="2538512"/>
            <a:ext cx="3426831" cy="1338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BULK INSERT silently skipped one record (19 dependent encounters) due to special characters. Detected via LEFT JOIN orphan check; resolved with SSMS Import Flat File Wizard.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61475" y="4198739"/>
            <a:ext cx="392003" cy="392013"/>
          </a:xfrm>
          <a:prstGeom prst="roundRect">
            <a:avLst>
              <a:gd name="adj" fmla="val 40006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6759" y="4231332"/>
            <a:ext cx="261336" cy="3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1214109" y="4258568"/>
            <a:ext cx="342683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Empty Strings vs NULLs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14109" y="4691360"/>
            <a:ext cx="3426831" cy="1338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Optional fields loaded as "" instead of NULL, making every patient appear alive. Fixed with NULLIF() — 154 patients with valid death dates, exactly matching source CSV.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72332" y="1593056"/>
            <a:ext cx="6464138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Findings Documented, Not "Fixed"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072332" y="2045891"/>
            <a:ext cx="3151704" cy="1622723"/>
          </a:xfrm>
          <a:prstGeom prst="roundRect">
            <a:avLst>
              <a:gd name="adj" fmla="val 9664"/>
            </a:avLst>
          </a:prstGeom>
          <a:solidFill>
            <a:srgbClr val="E5F9F2">
              <a:alpha val="95000"/>
            </a:srgbClr>
          </a:solidFill>
          <a:ln w="19050">
            <a:solidFill>
              <a:srgbClr val="B7D5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65606" y="2239169"/>
            <a:ext cx="276515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70% NULL reason codes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265606" y="2671961"/>
            <a:ext cx="276515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Routine visits have no diagnosis — left as NULL.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384668" y="2045891"/>
            <a:ext cx="3151803" cy="1622723"/>
          </a:xfrm>
          <a:prstGeom prst="roundRect">
            <a:avLst>
              <a:gd name="adj" fmla="val 9664"/>
            </a:avLst>
          </a:prstGeom>
          <a:solidFill>
            <a:srgbClr val="E5F9F2">
              <a:alpha val="95000"/>
            </a:srgbClr>
          </a:solidFill>
          <a:ln w="19050">
            <a:solidFill>
              <a:srgbClr val="B7D5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77941" y="2239169"/>
            <a:ext cx="276525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53 post-death encounters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77941" y="2671961"/>
            <a:ext cx="2765257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Admin/billing entries — kept for cost analysis; excluded from patient behavior.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72332" y="3829248"/>
            <a:ext cx="3151704" cy="1894880"/>
          </a:xfrm>
          <a:prstGeom prst="roundRect">
            <a:avLst>
              <a:gd name="adj" fmla="val 8276"/>
            </a:avLst>
          </a:prstGeom>
          <a:solidFill>
            <a:srgbClr val="E5F9F2">
              <a:alpha val="95000"/>
            </a:srgbClr>
          </a:solidFill>
          <a:ln w="19050">
            <a:solidFill>
              <a:srgbClr val="B7D5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65606" y="4022527"/>
            <a:ext cx="2765157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 patient, 1,381 encounters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265606" y="4727476"/>
            <a:ext cx="2765157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Chronic-care profile (likely dialysis) — flagged to prevent readmission model misinterpretation.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384668" y="3829248"/>
            <a:ext cx="3151803" cy="1894880"/>
          </a:xfrm>
          <a:prstGeom prst="roundRect">
            <a:avLst>
              <a:gd name="adj" fmla="val 8276"/>
            </a:avLst>
          </a:prstGeom>
          <a:solidFill>
            <a:srgbClr val="E5F9F2">
              <a:alpha val="95000"/>
            </a:srgbClr>
          </a:solidFill>
          <a:ln w="19050">
            <a:solidFill>
              <a:srgbClr val="B7D5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77941" y="4022527"/>
            <a:ext cx="2765257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4,779 zero-coverage encounters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577941" y="4727476"/>
            <a:ext cx="2765257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Insured patients with deductibles or denied claims — both interpretations reported explicitly.</a:t>
            </a:r>
            <a:endParaRPr lang="en-US" sz="13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91DE17-D80C-5FF2-0501-8CEEE62947DA}"/>
              </a:ext>
            </a:extLst>
          </p:cNvPr>
          <p:cNvSpPr/>
          <p:nvPr/>
        </p:nvSpPr>
        <p:spPr>
          <a:xfrm>
            <a:off x="10874188" y="6311153"/>
            <a:ext cx="1317812" cy="546847"/>
          </a:xfrm>
          <a:prstGeom prst="rect">
            <a:avLst/>
          </a:prstGeom>
          <a:solidFill>
            <a:srgbClr val="E2F7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95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SQL Analytics: Key Findings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913632"/>
            <a:ext cx="5339820" cy="1706662"/>
          </a:xfrm>
          <a:prstGeom prst="roundRect">
            <a:avLst>
              <a:gd name="adj" fmla="val 9968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108994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Encounter Volume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517676"/>
            <a:ext cx="4949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Range: 220 (2022, partial) to 3,885 (2014). Ambulatory 37–60% every year. 95.87% of encounters under 24 hours.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1913632"/>
            <a:ext cx="5339919" cy="1706662"/>
          </a:xfrm>
          <a:prstGeom prst="roundRect">
            <a:avLst>
              <a:gd name="adj" fmla="val 9968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2108994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Zero Coverage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2517676"/>
            <a:ext cx="49492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13,586 encounters (48.71%). The gap of 4,779 insured patients with $0 coverage reflects deductibles or denied claims — both numbers reported.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809305"/>
            <a:ext cx="5339820" cy="2009080"/>
          </a:xfrm>
          <a:prstGeom prst="roundRect">
            <a:avLst>
              <a:gd name="adj" fmla="val 8467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4004667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Top Costs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6832" y="4413349"/>
            <a:ext cx="4949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ICU admit ($206K, n=5), CABG ($47K, n=9), Hemodialysis ($29K, n=27). Medicaid $6,205 avg vs Medicare $2,167 — a 3.7× range.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3809305"/>
            <a:ext cx="5339919" cy="2009080"/>
          </a:xfrm>
          <a:prstGeom prst="roundRect">
            <a:avLst>
              <a:gd name="adj" fmla="val 8467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658" y="4004667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Readmissions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4413349"/>
            <a:ext cx="494920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299 patients (79.3%) readmitted within 30 days (broad definition); 29 under CMS-aligned inpatient-only definition. Top readmitter: Kimberly Collier, 1,375 readmissions.</a:t>
            </a:r>
            <a:endParaRPr lang="en-US" sz="14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D50284-24D8-B60B-AF43-00D6D2B849A0}"/>
              </a:ext>
            </a:extLst>
          </p:cNvPr>
          <p:cNvSpPr/>
          <p:nvPr/>
        </p:nvSpPr>
        <p:spPr>
          <a:xfrm>
            <a:off x="10874188" y="6311153"/>
            <a:ext cx="1317812" cy="546847"/>
          </a:xfrm>
          <a:prstGeom prst="rect">
            <a:avLst/>
          </a:prstGeom>
          <a:solidFill>
            <a:srgbClr val="E2F7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6121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Power BI Dashboard</a:t>
            </a:r>
            <a:endParaRPr lang="en-US" sz="365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7575" y="2112883"/>
            <a:ext cx="3557787" cy="20351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0665" y="1146916"/>
            <a:ext cx="10868745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Three-page dashboard in Import mode on a star schema with </a:t>
            </a:r>
            <a:r>
              <a:rPr lang="en-US" sz="145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encounters</a:t>
            </a: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as fact table and four dimensions (patients, payers, organizations, procedures). All measures DAX-defined. Embedded with cached data — no live SQL Server connection needed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506416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6" name="Shape 3"/>
          <p:cNvSpPr/>
          <p:nvPr/>
        </p:nvSpPr>
        <p:spPr>
          <a:xfrm>
            <a:off x="2187223" y="4297114"/>
            <a:ext cx="418593" cy="418604"/>
          </a:xfrm>
          <a:prstGeom prst="roundRect">
            <a:avLst>
              <a:gd name="adj" fmla="val 40005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56922" y="4331940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847505" y="4901803"/>
            <a:ext cx="309822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Operations Overview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47505" y="5302349"/>
            <a:ext cx="3098226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KPI cards, year-over-year trend, encounter-class donut, and class-mix stacked bar. 2014 and 2021 volume peaks visible at a glance.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886402" y="4297114"/>
            <a:ext cx="418593" cy="418604"/>
          </a:xfrm>
          <a:prstGeom prst="roundRect">
            <a:avLst>
              <a:gd name="adj" fmla="val 40005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56101" y="4331940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4546685" y="4901803"/>
            <a:ext cx="309822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Financial Overview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546685" y="5302349"/>
            <a:ext cx="3098226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Average claim cost by payer, coverage-type donut, top-10 procedures by cost, and financial burden treemap by encounter class.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585681" y="4297114"/>
            <a:ext cx="418593" cy="418604"/>
          </a:xfrm>
          <a:prstGeom prst="roundRect">
            <a:avLst>
              <a:gd name="adj" fmla="val 40005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55380" y="4331940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</a:t>
            </a:r>
            <a:endParaRPr lang="en-US" sz="2150" dirty="0"/>
          </a:p>
        </p:txBody>
      </p:sp>
      <p:sp>
        <p:nvSpPr>
          <p:cNvPr id="16" name="Text 13"/>
          <p:cNvSpPr/>
          <p:nvPr/>
        </p:nvSpPr>
        <p:spPr>
          <a:xfrm>
            <a:off x="8245864" y="4901803"/>
            <a:ext cx="3098326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Patient Risk &amp; Readmission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45864" y="5593060"/>
            <a:ext cx="3098326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Clinical readmission rate (strict definition), mortality rate, average stay duration, and risk distribution by age and gender.</a:t>
            </a:r>
            <a:endParaRPr lang="en-US" sz="11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45B733-B7B4-174E-E917-4230E691C03B}"/>
              </a:ext>
            </a:extLst>
          </p:cNvPr>
          <p:cNvSpPr/>
          <p:nvPr/>
        </p:nvSpPr>
        <p:spPr>
          <a:xfrm>
            <a:off x="10874188" y="6311153"/>
            <a:ext cx="1317812" cy="546847"/>
          </a:xfrm>
          <a:prstGeom prst="rect">
            <a:avLst/>
          </a:prstGeom>
          <a:solidFill>
            <a:srgbClr val="E2F7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Image 0">
            <a:extLst>
              <a:ext uri="{FF2B5EF4-FFF2-40B4-BE49-F238E27FC236}">
                <a16:creationId xmlns:a16="http://schemas.microsoft.com/office/drawing/2014/main" id="{64949A61-787F-053E-4AF5-6224B44FD8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36142" y="2121396"/>
            <a:ext cx="3557790" cy="2027557"/>
          </a:xfrm>
          <a:prstGeom prst="rect">
            <a:avLst/>
          </a:prstGeom>
        </p:spPr>
      </p:pic>
      <p:pic>
        <p:nvPicPr>
          <p:cNvPr id="23" name="Image 0">
            <a:extLst>
              <a:ext uri="{FF2B5EF4-FFF2-40B4-BE49-F238E27FC236}">
                <a16:creationId xmlns:a16="http://schemas.microsoft.com/office/drawing/2014/main" id="{D7398F2B-FC40-F930-0407-5FBB55F9817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16033" y="2126767"/>
            <a:ext cx="3557787" cy="20168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26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Readmission Prediction Model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65784"/>
            <a:ext cx="6336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Approach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150070"/>
            <a:ext cx="6336745" cy="261758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Feature engineering in SQL</a:t>
            </a: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- LAG, LEAD, COUNT OVER window functions compute prior encounter count and days since previous visit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Two models compared</a:t>
            </a: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- Logistic Regression baseline vs XGBoost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80/20 stratified split</a:t>
            </a: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- 22,312 train / 5,579 test, identical 61.6% target distribution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SHAP explainability</a:t>
            </a: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- summary and beeswarm plots on 500 test predictions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4980285"/>
            <a:ext cx="6336745" cy="918369"/>
          </a:xfrm>
          <a:prstGeom prst="roundRect">
            <a:avLst>
              <a:gd name="adj" fmla="val 18524"/>
            </a:avLst>
          </a:prstGeom>
          <a:solidFill>
            <a:srgbClr val="335E2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236666"/>
            <a:ext cx="189007" cy="1512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8496" y="5197574"/>
            <a:ext cx="5580717" cy="48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Real-world EHR readmission models typically achieve AUC 0.65–0.75. The higher score here reflects Synthea's cleaner patterns - methodology transfers directly.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727" y="1689398"/>
            <a:ext cx="4070744" cy="32760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65727" y="5178028"/>
            <a:ext cx="407074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10.7-point AUC gap justifies XGBoost's additional complexity over the interpretable baseline.</a:t>
            </a:r>
            <a:endParaRPr lang="en-US" sz="14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57496B-F1D4-49E3-E611-A83A45EF05A1}"/>
              </a:ext>
            </a:extLst>
          </p:cNvPr>
          <p:cNvSpPr/>
          <p:nvPr/>
        </p:nvSpPr>
        <p:spPr>
          <a:xfrm>
            <a:off x="10874188" y="6311153"/>
            <a:ext cx="1317812" cy="546847"/>
          </a:xfrm>
          <a:prstGeom prst="rect">
            <a:avLst/>
          </a:prstGeom>
          <a:solidFill>
            <a:srgbClr val="E2F7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18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Feature Importance (SHAP)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1509713"/>
            <a:ext cx="283461" cy="2834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5723" y="1503859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prior_encounter_count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275723" y="1912541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More prior encounters → higher readmission probability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3975" y="1509713"/>
            <a:ext cx="283461" cy="283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77383" y="1503859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days_since_prev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977383" y="1912541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Recent prior visit → higher readmission probability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5635" y="1509713"/>
            <a:ext cx="283461" cy="2834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79042" y="1503859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claim_cost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679042" y="1912541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Higher cost (sicker patient) → higher readmission probability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2901255"/>
            <a:ext cx="283461" cy="2834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75723" y="289540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patient_age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275723" y="3304084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Older patient → modestly higher readmission probability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3975" y="2901255"/>
            <a:ext cx="283461" cy="2834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77383" y="289540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duration_hours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977383" y="3304084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Longer encounter → higher readmission probability</a:t>
            </a:r>
            <a:endParaRPr lang="en-US" sz="14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5635" y="2901255"/>
            <a:ext cx="283461" cy="2834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679042" y="2895402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encounter_class_wellness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8679042" y="3599359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Wellness check → pushes away from readmission</a:t>
            </a:r>
            <a:endParaRPr lang="en-US" sz="1450" dirty="0"/>
          </a:p>
        </p:txBody>
      </p:sp>
      <p:sp>
        <p:nvSpPr>
          <p:cNvPr id="21" name="Text 13"/>
          <p:cNvSpPr/>
          <p:nvPr/>
        </p:nvSpPr>
        <p:spPr>
          <a:xfrm>
            <a:off x="4780215" y="4575528"/>
            <a:ext cx="701657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Clinical &amp; Behavioral Features Dominate</a:t>
            </a:r>
            <a:endParaRPr lang="en-US" sz="1850" dirty="0"/>
          </a:p>
        </p:txBody>
      </p:sp>
      <p:sp>
        <p:nvSpPr>
          <p:cNvPr id="22" name="Text 14"/>
          <p:cNvSpPr/>
          <p:nvPr/>
        </p:nvSpPr>
        <p:spPr>
          <a:xfrm>
            <a:off x="4769078" y="4950076"/>
            <a:ext cx="70165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model's top predictors are clinically meaningful — exactly what a credible healthcare model should look like. Race and gender appear near the bottom of the importance ranking.</a:t>
            </a:r>
            <a:endParaRPr lang="en-US" sz="1450" dirty="0"/>
          </a:p>
        </p:txBody>
      </p:sp>
      <p:pic>
        <p:nvPicPr>
          <p:cNvPr id="23" name="Image 6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68549" y="4022329"/>
            <a:ext cx="3465426" cy="2534673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F1BF57F-7139-7AC6-A0C9-230017469959}"/>
              </a:ext>
            </a:extLst>
          </p:cNvPr>
          <p:cNvSpPr/>
          <p:nvPr/>
        </p:nvSpPr>
        <p:spPr>
          <a:xfrm>
            <a:off x="10874188" y="6311153"/>
            <a:ext cx="1317812" cy="546847"/>
          </a:xfrm>
          <a:prstGeom prst="rect">
            <a:avLst/>
          </a:prstGeom>
          <a:solidFill>
            <a:srgbClr val="E2F7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5545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Conclusions &amp; Next Steps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61475" y="1653282"/>
            <a:ext cx="5342796" cy="1671141"/>
          </a:xfrm>
          <a:prstGeom prst="roundRect">
            <a:avLst>
              <a:gd name="adj" fmla="val 10021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3855" y="1845667"/>
            <a:ext cx="495803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Coverage Gap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53855" y="2246213"/>
            <a:ext cx="495803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35% of zero-coverage encounters belonged to insured patients. Track both metrics — "uninsured rate" alone under-counts those exposed to large out-of-pocket costs.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87424" y="1653282"/>
            <a:ext cx="5342796" cy="1671141"/>
          </a:xfrm>
          <a:prstGeom prst="roundRect">
            <a:avLst>
              <a:gd name="adj" fmla="val 10021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79804" y="1845667"/>
            <a:ext cx="495803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Cost Concentration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79804" y="2246213"/>
            <a:ext cx="495803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procedure (electrical cardioversion) drives ~$35M. Prioritize cost management on high-impact procedures rather than spreading thinly across all encounter types.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507581"/>
            <a:ext cx="5342796" cy="1966416"/>
          </a:xfrm>
          <a:prstGeom prst="roundRect">
            <a:avLst>
              <a:gd name="adj" fmla="val 8516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3855" y="3699966"/>
            <a:ext cx="495803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Preventative Outreach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3855" y="4100513"/>
            <a:ext cx="4958035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Medicaid and uninsured patients carry the highest average costs - consistent with delayed-care patterns. Targeted outreach could reduce long-term costs more effectively than acute-care interventions alone.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87424" y="3507581"/>
            <a:ext cx="5342796" cy="1966416"/>
          </a:xfrm>
          <a:prstGeom prst="roundRect">
            <a:avLst>
              <a:gd name="adj" fmla="val 8516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9804" y="3699966"/>
            <a:ext cx="495803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79804" y="4100513"/>
            <a:ext cx="4958035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Add chronic-care stratification; calibrate probabilities (Platt scaling); replicate on real EHR data via NHS or US health system partnership; wrap model in REST API for discharge-planning UI.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5679976"/>
            <a:ext cx="10868745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source: Walonoski J, Kramer M, Nichols J, et al. </a:t>
            </a:r>
            <a:r>
              <a:rPr lang="en-US" sz="115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Synthea: An approach, method, and software mechanism for generating synthetic patients and the synthetic electronic health care record.</a:t>
            </a: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JAMIA, March 2018.</a:t>
            </a:r>
            <a:endParaRPr lang="en-US" sz="11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DDE5E4-E751-0DA5-7669-6E200FFD8776}"/>
              </a:ext>
            </a:extLst>
          </p:cNvPr>
          <p:cNvSpPr/>
          <p:nvPr/>
        </p:nvSpPr>
        <p:spPr>
          <a:xfrm>
            <a:off x="10874188" y="6311153"/>
            <a:ext cx="1317812" cy="546847"/>
          </a:xfrm>
          <a:prstGeom prst="rect">
            <a:avLst/>
          </a:prstGeom>
          <a:solidFill>
            <a:srgbClr val="E2F7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1085</Words>
  <Application>Microsoft Office PowerPoint</Application>
  <PresentationFormat>Widescreen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Geist</vt:lpstr>
      <vt:lpstr>Geist Bold</vt:lpstr>
      <vt:lpstr>Noto Serif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Sahaj Kumar</cp:lastModifiedBy>
  <cp:revision>2</cp:revision>
  <dcterms:created xsi:type="dcterms:W3CDTF">2026-08-22T10:58:00Z</dcterms:created>
  <dcterms:modified xsi:type="dcterms:W3CDTF">2026-08-23T10:37:21Z</dcterms:modified>
</cp:coreProperties>
</file>